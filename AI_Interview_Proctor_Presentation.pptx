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272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0"/>
            <a:ext cx="1168603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686800" y="274320"/>
            <a:ext cx="1828800" cy="182880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875520" y="1371600"/>
            <a:ext cx="1097280" cy="1097280"/>
          </a:xfrm>
          <a:prstGeom prst="ellipse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046720" y="4572000"/>
            <a:ext cx="1371600" cy="1371600"/>
          </a:xfrm>
          <a:prstGeom prst="ellipse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97280" y="1371600"/>
            <a:ext cx="2926080" cy="411480"/>
          </a:xfrm>
          <a:prstGeom prst="rect">
            <a:avLst/>
          </a:prstGeom>
          <a:solidFill>
            <a:srgbClr val="0C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13716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</a:rPr>
              <a:t>  🎓  ENTERPRISE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AI Interview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38BDF8"/>
                </a:solidFill>
              </a:rPr>
              <a:t>Proctor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794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BD5E1"/>
                </a:solidFill>
              </a:rPr>
              <a:t>Enterprise-ready • AI-powered • Real-time Cheating Detection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5943600"/>
            <a:ext cx="11686032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6035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Java 21  •  FastAPI  •  React 18  •  Docker  •  YOLOv8  •  MediaPipe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8BDF8"/>
                </a:solidFill>
              </a:rPr>
              <a:t>Why do we need AI proctoring?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2514600" cy="4389120"/>
          </a:xfrm>
          <a:prstGeom prst="rect">
            <a:avLst/>
          </a:prstGeom>
          <a:solidFill>
            <a:srgbClr val="161B27"/>
          </a:solidFill>
          <a:ln w="63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231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BDF8"/>
                </a:solidFill>
              </a:rPr>
              <a:t>Rising Online Exams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71800"/>
            <a:ext cx="23317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Post-pandemic shift to remote hiring &amp; online assessments has made cheating easier than ever.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08960" y="1554480"/>
            <a:ext cx="2514600" cy="4389120"/>
          </a:xfrm>
          <a:prstGeom prst="rect">
            <a:avLst/>
          </a:prstGeom>
          <a:solidFill>
            <a:srgbClr val="161B27"/>
          </a:solidFill>
          <a:ln w="63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0400" y="16916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👁️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4231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BDF8"/>
                </a:solidFill>
              </a:rPr>
              <a:t>No Human Oversight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971800"/>
            <a:ext cx="23317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Traditional online tests lack real-time monitoring — candidates can freely switch tabs, use phones, or get external help.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52160" y="1554480"/>
            <a:ext cx="2514600" cy="4389120"/>
          </a:xfrm>
          <a:prstGeom prst="rect">
            <a:avLst/>
          </a:prstGeom>
          <a:solidFill>
            <a:srgbClr val="161B27"/>
          </a:solidFill>
          <a:ln w="63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0" y="16916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4231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BDF8"/>
                </a:solidFill>
              </a:rPr>
              <a:t>No Audit Trail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2971800"/>
            <a:ext cx="23317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Employers have zero evidence or logs to back integrity claims after the test.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95360" y="1554480"/>
            <a:ext cx="2514600" cy="4389120"/>
          </a:xfrm>
          <a:prstGeom prst="rect">
            <a:avLst/>
          </a:prstGeom>
          <a:solidFill>
            <a:srgbClr val="161B27"/>
          </a:solidFill>
          <a:ln w="63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0" y="16916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24231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BDF8"/>
                </a:solidFill>
              </a:rPr>
              <a:t>High Cost of Misconduct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2971800"/>
            <a:ext cx="23317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Hiring a dishonest candidate costs companies 30% of their annual salary in losses.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Our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8BDF8"/>
                </a:solidFill>
              </a:rPr>
              <a:t>AI Interview Proctor — end-to-end integrity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4173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</a:rPr>
              <a:t>An enterprise-ready, multi-tier AI-powered proctoring system that protects the integrity of online evaluations using deep-learning computer vision, acoustic analysis, and real-time browser telemetry.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2423160"/>
            <a:ext cx="3749039" cy="1691640"/>
          </a:xfrm>
          <a:prstGeom prst="rect">
            <a:avLst/>
          </a:prstGeom>
          <a:solidFill>
            <a:srgbClr val="161B27"/>
          </a:solidFill>
          <a:ln w="101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2423160"/>
            <a:ext cx="73152" cy="16916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25603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</a:rPr>
              <a:t>🎥  Face &amp; Gaze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01752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MediaPipe FaceMesh + eye-gaze deviation detection at 2 FPS.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2423160"/>
            <a:ext cx="3749039" cy="1691640"/>
          </a:xfrm>
          <a:prstGeom prst="rect">
            <a:avLst/>
          </a:prstGeom>
          <a:solidFill>
            <a:srgbClr val="161B27"/>
          </a:solidFill>
          <a:ln w="1016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70248" y="2423160"/>
            <a:ext cx="73152" cy="169164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53128" y="25603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</a:rPr>
              <a:t>📱  Object Detection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3128" y="301752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YOLOv8 detects phones, books, and unauthorized devices in real time.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0456" y="2423160"/>
            <a:ext cx="3749039" cy="1691640"/>
          </a:xfrm>
          <a:prstGeom prst="rect">
            <a:avLst/>
          </a:prstGeom>
          <a:solidFill>
            <a:srgbClr val="161B27"/>
          </a:solidFill>
          <a:ln w="1016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20456" y="2423160"/>
            <a:ext cx="73152" cy="16916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03336" y="25603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</a:rPr>
              <a:t>🔊  Audio Monitoring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3336" y="301752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Acoustic amplitude analysis flags suspicious background conversations.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4343400"/>
            <a:ext cx="3749039" cy="1691640"/>
          </a:xfrm>
          <a:prstGeom prst="rect">
            <a:avLst/>
          </a:prstGeom>
          <a:solidFill>
            <a:srgbClr val="161B27"/>
          </a:solidFill>
          <a:ln w="1016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20040" y="4343400"/>
            <a:ext cx="73152" cy="16916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44805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</a:rPr>
              <a:t>🌐  Browser Telemetry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93776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Tracks tab-switches, fullscreen exits, copy-paste, and DevTools usage.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4343400"/>
            <a:ext cx="3749039" cy="1691640"/>
          </a:xfrm>
          <a:prstGeom prst="rect">
            <a:avLst/>
          </a:prstGeom>
          <a:solidFill>
            <a:srgbClr val="161B27"/>
          </a:solidFill>
          <a:ln w="101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270248" y="4343400"/>
            <a:ext cx="73152" cy="16916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53128" y="44805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</a:rPr>
              <a:t>📄  Auto Report Generation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53128" y="493776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Generates PDF &amp; Excel audit reports with a full violation timeline.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0456" y="4343400"/>
            <a:ext cx="3749039" cy="1691640"/>
          </a:xfrm>
          <a:prstGeom prst="rect">
            <a:avLst/>
          </a:prstGeom>
          <a:solidFill>
            <a:srgbClr val="161B27"/>
          </a:solidFill>
          <a:ln w="1016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220456" y="4343400"/>
            <a:ext cx="73152" cy="169164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403336" y="44805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</a:rPr>
              <a:t>🔒  JWT Auth + OTP Email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03336" y="4937760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Secure multi-role auth: Candidate, Interviewer &amp; Admin roles.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8BDF8"/>
                </a:solidFill>
              </a:rPr>
              <a:t>Multi-tier microservices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0" y="1417320"/>
            <a:ext cx="4480560" cy="868680"/>
          </a:xfrm>
          <a:prstGeom prst="rect">
            <a:avLst/>
          </a:prstGeom>
          <a:solidFill>
            <a:srgbClr val="161B27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977640" y="1490472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8BDF8"/>
                </a:solidFill>
              </a:rPr>
              <a:t>React 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7640" y="1892808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WebRTC • HTML5 Canvas • WebSocket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2926080"/>
            <a:ext cx="4480560" cy="868680"/>
          </a:xfrm>
          <a:prstGeom prst="rect">
            <a:avLst/>
          </a:prstGeom>
          <a:solidFill>
            <a:srgbClr val="161B27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2999232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A78BFA"/>
                </a:solidFill>
              </a:rPr>
              <a:t>Spring Boot 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401568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JWT Auth • JPA • REST API (8080)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0" y="2926080"/>
            <a:ext cx="4480560" cy="868680"/>
          </a:xfrm>
          <a:prstGeom prst="rect">
            <a:avLst/>
          </a:prstGeom>
          <a:solidFill>
            <a:srgbClr val="161B27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12280" y="2999232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4D399"/>
                </a:solidFill>
              </a:rPr>
              <a:t>FastAPI AI Service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3401568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YOLOv8 • MediaPipe • OpenCV (8000)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4617720"/>
            <a:ext cx="4480560" cy="868680"/>
          </a:xfrm>
          <a:prstGeom prst="rect">
            <a:avLst/>
          </a:prstGeom>
          <a:solidFill>
            <a:srgbClr val="161B27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37560" y="4690872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BBF24"/>
                </a:solidFill>
              </a:rPr>
              <a:t>MySQL Database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5093208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Sessions • Users • Audit Logs (3306)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0" y="2286000"/>
            <a:ext cx="36576" cy="64008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46120" y="23317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REST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0" y="2286000"/>
            <a:ext cx="36576" cy="6400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178040" y="2331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WebSocket 2fps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0" y="3794760"/>
            <a:ext cx="36576" cy="8229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291840" y="3977639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JPA/MySQL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1554480"/>
            <a:ext cx="1371600" cy="457200"/>
          </a:xfrm>
          <a:prstGeom prst="rect">
            <a:avLst/>
          </a:prstGeom>
          <a:solidFill>
            <a:srgbClr val="1C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92608" y="1572768"/>
            <a:ext cx="13350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Nginx
Proxy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8BDF8"/>
                </a:solidFill>
              </a:rPr>
              <a:t>Cutting-edge, production-grade technologies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508760"/>
            <a:ext cx="2743200" cy="5074920"/>
          </a:xfrm>
          <a:prstGeom prst="rect">
            <a:avLst/>
          </a:prstGeom>
          <a:solidFill>
            <a:srgbClr val="161B27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508760"/>
            <a:ext cx="2743200" cy="4572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79" y="1536192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117"/>
                </a:solidFill>
              </a:rPr>
              <a:t>⚙️  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• Java 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2432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• Spring Boot 3.3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99816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• Spring Security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575304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• Hibernate / JPA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050791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• MySQL 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5262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• Lombok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00176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• MapStruct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477256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• Apache POI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952744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• OpenPDF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28231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• Swagger UI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46120" y="1508760"/>
            <a:ext cx="2743200" cy="5074920"/>
          </a:xfrm>
          <a:prstGeom prst="rect">
            <a:avLst/>
          </a:prstGeom>
          <a:solidFill>
            <a:srgbClr val="161B27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246120" y="1508760"/>
            <a:ext cx="2743200" cy="4572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337560" y="1536192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117"/>
                </a:solidFill>
              </a:rPr>
              <a:t>🤖  AI Service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79" y="21488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• Python 3.10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262432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• FastAPI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79" y="3099816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• Uvicorn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79" y="3575304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• OpenCV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79" y="4050791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• MediaPipe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79" y="45262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• YOLOv8 (Ultralytics)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79" y="500176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• NumPy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79" y="5477256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• WebSocket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72200" y="1508760"/>
            <a:ext cx="2743200" cy="5074920"/>
          </a:xfrm>
          <a:prstGeom prst="rect">
            <a:avLst/>
          </a:prstGeom>
          <a:solidFill>
            <a:srgbClr val="161B27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172200" y="1508760"/>
            <a:ext cx="2743200" cy="457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263640" y="1536192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117"/>
                </a:solidFill>
              </a:rPr>
              <a:t>🌐  Frontend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21488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• React 18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262432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• Vite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3099816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• Tailwind CSS v3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3575304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• Axios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4050791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• React Router v6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45262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• WebRTC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500176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• Lucide Icons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098280" y="1508760"/>
            <a:ext cx="2743200" cy="5074920"/>
          </a:xfrm>
          <a:prstGeom prst="rect">
            <a:avLst/>
          </a:prstGeom>
          <a:solidFill>
            <a:srgbClr val="161B27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9098280" y="1508760"/>
            <a:ext cx="2743200" cy="4572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189719" y="1536192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117"/>
                </a:solidFill>
              </a:rPr>
              <a:t>🐳  Infrastructure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35440" y="21488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• Docker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35440" y="262432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• Docker Compose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35440" y="3099816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• Nginx (Reverse Proxy)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35440" y="3575304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• Gzip Compression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35440" y="4050791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• WebSocket Upgrade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35440" y="45262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• Multi-stage Builds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Key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8BDF8"/>
                </a:solidFill>
              </a:rPr>
              <a:t>What makes our system stand out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508760"/>
            <a:ext cx="5669280" cy="1170432"/>
          </a:xfrm>
          <a:prstGeom prst="rect">
            <a:avLst/>
          </a:prstGeom>
          <a:solidFill>
            <a:srgbClr val="161B27"/>
          </a:solidFill>
          <a:ln w="63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61848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60020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</a:rPr>
              <a:t>Real-Time Face Mesh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039112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</a:rPr>
              <a:t>2 FPS WebSocket stream analysed by MediaPipe FaceMesh detecting face presence &amp; eye-gaze deviation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508760"/>
            <a:ext cx="5669280" cy="1170432"/>
          </a:xfrm>
          <a:prstGeom prst="rect">
            <a:avLst/>
          </a:prstGeom>
          <a:solidFill>
            <a:srgbClr val="161B27"/>
          </a:solidFill>
          <a:ln w="63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61848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79" y="160020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</a:rPr>
              <a:t>YOLOv8 Object Detection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79" y="2039112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</a:rPr>
              <a:t>Detects phones, books &amp; electronic devices in the candidate's camera frame instantly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807208"/>
            <a:ext cx="5669280" cy="1170432"/>
          </a:xfrm>
          <a:prstGeom prst="rect">
            <a:avLst/>
          </a:prstGeom>
          <a:solidFill>
            <a:srgbClr val="161B27"/>
          </a:solidFill>
          <a:ln w="63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2916936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898648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</a:rPr>
              <a:t>Acoustic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337560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</a:rPr>
              <a:t>RMS/dB threshold checks flag suspicious audio — multiple speakers, whispering, or loud noise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2807208"/>
            <a:ext cx="5669280" cy="1170432"/>
          </a:xfrm>
          <a:prstGeom prst="rect">
            <a:avLst/>
          </a:prstGeom>
          <a:solidFill>
            <a:srgbClr val="161B27"/>
          </a:solidFill>
          <a:ln w="63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2916936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79" y="2898648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</a:rPr>
              <a:t>Browser Telemetry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79" y="3337560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</a:rPr>
              <a:t>Monitors tab switches, fullscreen exits, copy-paste, right-click &amp; DevTools — auto-warns candidate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4105656"/>
            <a:ext cx="5669280" cy="1170432"/>
          </a:xfrm>
          <a:prstGeom prst="rect">
            <a:avLst/>
          </a:prstGeom>
          <a:solidFill>
            <a:srgbClr val="161B27"/>
          </a:solidFill>
          <a:ln w="63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4215384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197096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</a:rPr>
              <a:t>PDF / Excel Reports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636008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</a:rPr>
              <a:t>One-click generation of chronological audit trail — downloadable as PDF or Excel (Apache POI)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4105656"/>
            <a:ext cx="5669280" cy="1170432"/>
          </a:xfrm>
          <a:prstGeom prst="rect">
            <a:avLst/>
          </a:prstGeom>
          <a:solidFill>
            <a:srgbClr val="161B27"/>
          </a:solidFill>
          <a:ln w="63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0" y="4215384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79" y="4197096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</a:rPr>
              <a:t>OTP + JWT Auth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79" y="4636008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</a:rPr>
              <a:t>Email OTP registration, forgot-password flow, and stateless JWT access/refresh token security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5404104"/>
            <a:ext cx="5669280" cy="1170432"/>
          </a:xfrm>
          <a:prstGeom prst="rect">
            <a:avLst/>
          </a:prstGeom>
          <a:solidFill>
            <a:srgbClr val="161B27"/>
          </a:solidFill>
          <a:ln w="63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7200" y="551383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5495544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</a:rPr>
              <a:t>Multi-Role Dashboard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5934456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</a:rPr>
              <a:t>Separate dashboards for Candidate, Interviewer &amp; Admin with role-gated APIs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3640" y="5404104"/>
            <a:ext cx="5669280" cy="1170432"/>
          </a:xfrm>
          <a:prstGeom prst="rect">
            <a:avLst/>
          </a:prstGeom>
          <a:solidFill>
            <a:srgbClr val="161B27"/>
          </a:solidFill>
          <a:ln w="63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00800" y="551383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79" y="5495544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</a:rPr>
              <a:t>Docker One-Command Deploy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0879" y="5934456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</a:rPr>
              <a:t>Full stack spins up in one command: `docker compose up --build` — no local setup required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Core User 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8BDF8"/>
                </a:solidFill>
              </a:rPr>
              <a:t>End-to-end candidate &amp; interviewer journey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508760"/>
            <a:ext cx="3749039" cy="5074920"/>
          </a:xfrm>
          <a:prstGeom prst="rect">
            <a:avLst/>
          </a:prstGeom>
          <a:solidFill>
            <a:srgbClr val="161B27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508760"/>
            <a:ext cx="3749039" cy="457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79" y="1536192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117"/>
                </a:solidFill>
              </a:rPr>
              <a:t>👤  Candidate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1️⃣  Register → Receive OTP via Email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07208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2️⃣  Verify OTP → Account Activated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65576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3️⃣  Enter Access Code from Interviewer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23944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4️⃣  Grant Camera &amp; Mic Permissions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782312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5️⃣  Start Exam (Fullscreen Mode)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440679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6️⃣  AI monitors in real-time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099048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7️⃣  Submit (or auto-submit on 3 warnings)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60520" y="1508760"/>
            <a:ext cx="3749039" cy="5074920"/>
          </a:xfrm>
          <a:prstGeom prst="rect">
            <a:avLst/>
          </a:prstGeom>
          <a:solidFill>
            <a:srgbClr val="161B27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160520" y="1508760"/>
            <a:ext cx="3749039" cy="4572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51959" y="1536192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117"/>
                </a:solidFill>
              </a:rPr>
              <a:t>🎙️  Interviewer 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214884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1️⃣  Register &amp; Login to Dashboard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2807208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2️⃣  Schedule Interview → Set date, duration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3465576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3️⃣  Candidate receives unique Access Code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4123944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4️⃣  Monitor live session status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4782312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5️⃣  After exam → Generate Report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5440679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6️⃣  View chronological violations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6099048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7️⃣  Download PDF / Excel audit report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01000" y="1508760"/>
            <a:ext cx="3749039" cy="5074920"/>
          </a:xfrm>
          <a:prstGeom prst="rect">
            <a:avLst/>
          </a:prstGeom>
          <a:solidFill>
            <a:srgbClr val="161B27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001000" y="1508760"/>
            <a:ext cx="3749039" cy="4572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092440" y="1536192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117"/>
                </a:solidFill>
              </a:rPr>
              <a:t>🛡️  AI Proctor Flow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214884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📸  Receive Base64 JPEG frame via WebSocket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2807208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👁️  Run FaceMesh → detect face presence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3465576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📐  Calculate eye-gaze deviation angle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4123944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📱  YOLOv8 scan → detect forbidden objects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4782312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🔊  Check audio RMS amplitude threshold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0" y="5440679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⚠️  Return anomaly alert with confidence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0" y="6099048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📝  Backend logs event with timestamp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REST API 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8BDF8"/>
                </a:solidFill>
              </a:rPr>
              <a:t>JWT-protected endpoints under /api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508760"/>
            <a:ext cx="2743200" cy="5074920"/>
          </a:xfrm>
          <a:prstGeom prst="rect">
            <a:avLst/>
          </a:prstGeom>
          <a:solidFill>
            <a:srgbClr val="161B27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508760"/>
            <a:ext cx="2743200" cy="43891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536192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🔐  Auth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103120"/>
            <a:ext cx="658368" cy="25603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2103120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D1117"/>
                </a:solidFill>
              </a:rPr>
              <a:t>POST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2103120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/auth/register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395727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Register user (CANDIDATE / INTERVIEWER / ADMIN)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200400"/>
            <a:ext cx="658368" cy="25603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3200400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D1117"/>
                </a:solidFill>
              </a:rPr>
              <a:t>POST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3200400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/auth/verify-otp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493008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Activate account with OTP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297679"/>
            <a:ext cx="658368" cy="25603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4297679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D1117"/>
                </a:solidFill>
              </a:rPr>
              <a:t>POST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" y="4297679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/auth/login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590288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Get JWT token pair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394959"/>
            <a:ext cx="658368" cy="25603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5760" y="5394959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D1117"/>
                </a:solidFill>
              </a:rPr>
              <a:t>POST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" y="5394959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/auth/forgot-password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5687568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Send password-reset OTP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46120" y="1508760"/>
            <a:ext cx="2743200" cy="5074920"/>
          </a:xfrm>
          <a:prstGeom prst="rect">
            <a:avLst/>
          </a:prstGeom>
          <a:solidFill>
            <a:srgbClr val="161B27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246120" y="1508760"/>
            <a:ext cx="2743200" cy="43891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337560" y="1536192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📅  Interviews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37560" y="2103120"/>
            <a:ext cx="658368" cy="25603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337560" y="2103120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D1117"/>
                </a:solidFill>
              </a:rPr>
              <a:t>POST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41648" y="2103120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/interviews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37560" y="2395727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Schedule interview (Interviewer)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37560" y="3200400"/>
            <a:ext cx="658368" cy="2560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337560" y="3200400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D1117"/>
                </a:solidFill>
              </a:rPr>
              <a:t>GET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41648" y="3200400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/interviews/candidate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37560" y="3493008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My interview schedule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337560" y="4297679"/>
            <a:ext cx="658368" cy="2560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337560" y="4297679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D1117"/>
                </a:solidFill>
              </a:rPr>
              <a:t>GET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41648" y="4297679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/interviews/code/{code}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37560" y="4590288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Look up by access code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337560" y="5394959"/>
            <a:ext cx="658368" cy="25603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337560" y="5394959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D1117"/>
                </a:solidFill>
              </a:rPr>
              <a:t>PATCH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041648" y="5394959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/interviews/{id}/status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37560" y="5687568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Update interview status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17920" y="1508760"/>
            <a:ext cx="2743200" cy="5074920"/>
          </a:xfrm>
          <a:prstGeom prst="rect">
            <a:avLst/>
          </a:prstGeom>
          <a:solidFill>
            <a:srgbClr val="161B27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217920" y="1508760"/>
            <a:ext cx="2743200" cy="43891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309359" y="1536192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🖥️  Sessions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09359" y="2103120"/>
            <a:ext cx="658368" cy="25603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309359" y="2103120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D1117"/>
                </a:solidFill>
              </a:rPr>
              <a:t>POST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13448" y="2103120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/sessions/start/{id}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09359" y="2395727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Start live session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309359" y="3200400"/>
            <a:ext cx="658368" cy="25603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309359" y="3200400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D1117"/>
                </a:solidFill>
              </a:rPr>
              <a:t>POST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13448" y="3200400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/sessions/{id}/violation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09359" y="3493008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Log browser violation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09359" y="4297679"/>
            <a:ext cx="658368" cy="25603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309359" y="4297679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D1117"/>
                </a:solidFill>
              </a:rPr>
              <a:t>POST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013448" y="4297679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/sessions/{id}/ai-event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09359" y="4590288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Log AI anomaly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309359" y="5394959"/>
            <a:ext cx="658368" cy="25603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309359" y="5394959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D1117"/>
                </a:solidFill>
              </a:rPr>
              <a:t>POST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013448" y="5394959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/sessions/{id}/submit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309359" y="5687568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Submit session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189720" y="1508760"/>
            <a:ext cx="2743200" cy="5074920"/>
          </a:xfrm>
          <a:prstGeom prst="rect">
            <a:avLst/>
          </a:prstGeom>
          <a:solidFill>
            <a:srgbClr val="161B27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9189720" y="1508760"/>
            <a:ext cx="2743200" cy="43891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281160" y="1536192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📄  Reports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281160" y="2103120"/>
            <a:ext cx="658368" cy="25603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281160" y="2103120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D1117"/>
                </a:solidFill>
              </a:rPr>
              <a:t>POST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985248" y="2103120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/reports/generate/{id}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281160" y="2395727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Generate report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281160" y="3200400"/>
            <a:ext cx="658368" cy="2560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9281160" y="3200400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D1117"/>
                </a:solidFill>
              </a:rPr>
              <a:t>GET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985248" y="3200400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/reports/session/{id}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281160" y="3493008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Get report metadata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281160" y="4297679"/>
            <a:ext cx="658368" cy="2560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9281160" y="4297679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D1117"/>
                </a:solidFill>
              </a:rPr>
              <a:t>GET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985248" y="4297679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/reports/download/pdf/{id}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281160" y="4590288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Download PDF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281160" y="5394959"/>
            <a:ext cx="658368" cy="2560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9281160" y="5394959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D1117"/>
                </a:solidFill>
              </a:rPr>
              <a:t>GET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985248" y="5394959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/reports/download/excel/{id}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281160" y="5687568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BD5E1"/>
                </a:solidFill>
              </a:rPr>
              <a:t>Download Excel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Project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8BDF8"/>
                </a:solidFill>
              </a:rPr>
              <a:t>Clean microservices directory layout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508760"/>
            <a:ext cx="11548872" cy="507492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508760"/>
            <a:ext cx="64008" cy="50749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600200"/>
            <a:ext cx="1124712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34D399"/>
                </a:solidFill>
              </a:rPr>
              <a:t>ai-interview-proctor/
├── backend/                  ← Java Spring Boot REST API
│   ├── controller/           ← REST Controllers
│   ├── service/              ← Business Logic
│   ├── entity/               ← JPA Entities
│   ├── security/             ← JWT + Spring Security
│   └── Dockerfile
├── ai-service/               ← FastAPI Computer Vision
│   ├── services/             ← Face, Object, Audio Services
│   ├── tests/                ← 7 pytest unit tests
│   └── Dockerfile
├── frontend/                 ← React 18 + Vite + Tailwind
│   ├── pages/                ← Landing, Login, Dashboards, InterviewRoom
│   ├── components/           ← CameraStream, WarningOverlay, CodeEditor
│   └── Dockerfile
├── database/
│   └── schema.sql            ← Tables, roles, seed data
├── docker/
│   └── nginx.conf            ← Reverse proxy + gzip + WS upgrade
└── docker-compose.yml        ← One-command full-stack deployment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Testing &amp;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8BDF8"/>
                </a:solidFill>
              </a:rPr>
              <a:t>Comprehensive automated test coverage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508760"/>
            <a:ext cx="2743200" cy="2011680"/>
          </a:xfrm>
          <a:prstGeom prst="rect">
            <a:avLst/>
          </a:prstGeom>
          <a:solidFill>
            <a:srgbClr val="161B27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79" y="1627632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A78BFA"/>
                </a:solidFill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2450592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Backend
Unit Tests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299923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JUnit 5 + Mockito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64408" y="1508760"/>
            <a:ext cx="2743200" cy="2011680"/>
          </a:xfrm>
          <a:prstGeom prst="rect">
            <a:avLst/>
          </a:prstGeom>
          <a:solidFill>
            <a:srgbClr val="161B27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55848" y="1627632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34D399"/>
                </a:solidFill>
              </a:rP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55848" y="2450592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AI Service
Tests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55848" y="299923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pytest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08776" y="1508760"/>
            <a:ext cx="2743200" cy="2011680"/>
          </a:xfrm>
          <a:prstGeom prst="rect">
            <a:avLst/>
          </a:prstGeom>
          <a:solidFill>
            <a:srgbClr val="161B27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00216" y="1627632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38BDF8"/>
                </a:solidFill>
              </a:rPr>
              <a:t>100%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0216" y="2450592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All Tests
Passing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0216" y="299923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Zero Failures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53144" y="1508760"/>
            <a:ext cx="2743200" cy="2011680"/>
          </a:xfrm>
          <a:prstGeom prst="rect">
            <a:avLst/>
          </a:prstGeom>
          <a:solidFill>
            <a:srgbClr val="161B27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44584" y="1627632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BBF24"/>
                </a:solidFill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44584" y="2450592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Hardcoded
Secrets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44584" y="299923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.gitignore secured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703320"/>
            <a:ext cx="5687568" cy="2926080"/>
          </a:xfrm>
          <a:prstGeom prst="rect">
            <a:avLst/>
          </a:prstGeom>
          <a:solidFill>
            <a:srgbClr val="161B27"/>
          </a:solidFill>
          <a:ln w="1016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3767328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78BFA"/>
                </a:solidFill>
              </a:rPr>
              <a:t>Backend Test Suites (JUnit 5 + Mockito)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29768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</a:rPr>
              <a:t>  ✓  AuthServiceTest — OTP, registration, password reset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68172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</a:rPr>
              <a:t>  ✓  InterviewServiceTest — scheduling, code generation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065776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</a:rPr>
              <a:t>  ✓  ReportServiceTest — scoring algorithm, PDF/Excel generation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449824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</a:rPr>
              <a:t>  ✓  SessionServiceTest — session lifecycle management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833872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</a:rPr>
              <a:t>  ✓  UserServiceTest — profile updates, resume upload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2179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</a:rPr>
              <a:t>  ✓  AuthControllerTest + SessionControllerTest — endpoint bindings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81927" y="3703320"/>
            <a:ext cx="5687568" cy="2926080"/>
          </a:xfrm>
          <a:prstGeom prst="rect">
            <a:avLst/>
          </a:prstGeom>
          <a:solidFill>
            <a:srgbClr val="161B27"/>
          </a:solidFill>
          <a:ln w="1016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19088" y="3767328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4D399"/>
                </a:solidFill>
              </a:rPr>
              <a:t>AI Service Test Suites (pytest)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19088" y="429768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</a:rPr>
              <a:t>  ✓  test_audio_service.py — RMS/dB threshold checks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19088" y="468172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</a:rPr>
              <a:t>  ✓  test_proctor_service.py — violation scoring rules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19088" y="5065776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</a:rPr>
              <a:t>  ✓  test_main.py — /health &amp; /analyze-frame endpoints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19088" y="5449824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</a:rPr>
              <a:t>  ✓  conftest.py — global stubs for mediapipe &amp; ultralytics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8BDF8"/>
                </a:solidFill>
              </a:rPr>
              <a:t>Zero-config Docker Compose deployment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508760"/>
            <a:ext cx="2743200" cy="2926080"/>
          </a:xfrm>
          <a:prstGeom prst="rect">
            <a:avLst/>
          </a:prstGeom>
          <a:solidFill>
            <a:srgbClr val="161B27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508760"/>
            <a:ext cx="2743200" cy="34747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79" y="1536192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117"/>
                </a:solidFill>
              </a:rPr>
              <a:t>Step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19659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</a:rPr>
              <a:t>Configure Environment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79" y="2487168"/>
            <a:ext cx="2560320" cy="1783080"/>
          </a:xfrm>
          <a:prstGeom prst="rect">
            <a:avLst/>
          </a:prstGeom>
          <a:solidFill>
            <a:srgbClr val="0A0F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4632" y="2542032"/>
            <a:ext cx="2423160" cy="1682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4D399"/>
                </a:solidFill>
              </a:rPr>
              <a:t>cp .env.example .env
# Set MYSQL_ROOT_PASSWORD &amp; JWT_SECRET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64408" y="1508760"/>
            <a:ext cx="2743200" cy="2926080"/>
          </a:xfrm>
          <a:prstGeom prst="rect">
            <a:avLst/>
          </a:prstGeom>
          <a:solidFill>
            <a:srgbClr val="161B27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64408" y="1508760"/>
            <a:ext cx="2743200" cy="34747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55848" y="1536192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117"/>
                </a:solidFill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55848" y="19659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</a:rPr>
              <a:t>Build &amp; Start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55848" y="2487168"/>
            <a:ext cx="2560320" cy="1783080"/>
          </a:xfrm>
          <a:prstGeom prst="rect">
            <a:avLst/>
          </a:prstGeom>
          <a:solidFill>
            <a:srgbClr val="0A0F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29000" y="2542032"/>
            <a:ext cx="2423160" cy="1682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4D399"/>
                </a:solidFill>
              </a:rPr>
              <a:t>docker compose up --build
# Downloads &amp; builds all 4 services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08776" y="1508760"/>
            <a:ext cx="2743200" cy="2926080"/>
          </a:xfrm>
          <a:prstGeom prst="rect">
            <a:avLst/>
          </a:prstGeom>
          <a:solidFill>
            <a:srgbClr val="161B27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08776" y="1508760"/>
            <a:ext cx="2743200" cy="34747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0216" y="1536192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117"/>
                </a:solidFill>
              </a:rPr>
              <a:t>Step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0216" y="19659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</a:rPr>
              <a:t>Access Application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0216" y="2487168"/>
            <a:ext cx="2560320" cy="1783080"/>
          </a:xfrm>
          <a:prstGeom prst="rect">
            <a:avLst/>
          </a:prstGeom>
          <a:solidFill>
            <a:srgbClr val="0A0F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73368" y="2542032"/>
            <a:ext cx="2423160" cy="1682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4D399"/>
                </a:solidFill>
              </a:rPr>
              <a:t>Frontend:  http://localhost
Swagger:   http://localhost/api/swagger-ui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53144" y="1508760"/>
            <a:ext cx="2743200" cy="2926080"/>
          </a:xfrm>
          <a:prstGeom prst="rect">
            <a:avLst/>
          </a:prstGeom>
          <a:solidFill>
            <a:srgbClr val="161B27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153144" y="1508760"/>
            <a:ext cx="2743200" cy="34747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244584" y="1536192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117"/>
                </a:solidFill>
              </a:rPr>
              <a:t>Step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44584" y="19659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</a:rPr>
              <a:t>Monitor Health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244584" y="2487168"/>
            <a:ext cx="2560320" cy="1783080"/>
          </a:xfrm>
          <a:prstGeom prst="rect">
            <a:avLst/>
          </a:prstGeom>
          <a:solidFill>
            <a:srgbClr val="0A0F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317736" y="2542032"/>
            <a:ext cx="2423160" cy="1682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4D399"/>
                </a:solidFill>
              </a:rPr>
              <a:t>AI Service: http://localhost:8000/health
docker logs proctor_backend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4617720"/>
            <a:ext cx="11548872" cy="411480"/>
          </a:xfrm>
          <a:prstGeom prst="rect">
            <a:avLst/>
          </a:prstGeom>
          <a:solidFill>
            <a:srgbClr val="1A2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7200" y="464515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Service Endpoints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79" y="512064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</a:rPr>
              <a:t>Frontend UI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79" y="546811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</a:rPr>
              <a:t>http://localhost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55848" y="512064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</a:rPr>
              <a:t>Backend Swagger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55848" y="546811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</a:rPr>
              <a:t>http://localhost/api/swagger-ui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0216" y="512064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</a:rPr>
              <a:t>AI Service Health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0216" y="546811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</a:rPr>
              <a:t>http://localhost:8000/health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44584" y="512064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</a:rPr>
              <a:t>MySQL Database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44584" y="546811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BD5E1"/>
                </a:solidFill>
              </a:rPr>
              <a:t>localhost:3306 / proctor_db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686800" y="274320"/>
            <a:ext cx="1828800" cy="182880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875520" y="4114800"/>
            <a:ext cx="1371600" cy="1371600"/>
          </a:xfrm>
          <a:prstGeom prst="ellipse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09728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0" i="0">
                <a:solidFill>
                  <a:srgbClr val="FFFFFF"/>
                </a:solidFill>
              </a:rPr>
              <a:t>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9144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Thank You!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017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8BDF8"/>
                </a:solidFill>
              </a:rPr>
              <a:t>AI Interview Proctor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74903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BD5E1"/>
                </a:solidFill>
              </a:rPr>
              <a:t>Enterprise-ready • Real-time AI Proctoring • Secure &amp; Scalable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4572000"/>
            <a:ext cx="2286000" cy="548640"/>
          </a:xfrm>
          <a:prstGeom prst="rect">
            <a:avLst/>
          </a:prstGeom>
          <a:solidFill>
            <a:srgbClr val="161B27"/>
          </a:solidFill>
          <a:ln w="101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46177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8BDF8"/>
                </a:solidFill>
              </a:rPr>
              <a:t>4 Microservices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49039" y="4572000"/>
            <a:ext cx="2286000" cy="548640"/>
          </a:xfrm>
          <a:prstGeom prst="rect">
            <a:avLst/>
          </a:prstGeom>
          <a:solidFill>
            <a:srgbClr val="161B27"/>
          </a:solidFill>
          <a:ln w="1016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40479" y="46177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A78BFA"/>
                </a:solidFill>
              </a:rPr>
              <a:t>40 Unit Tests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4572000"/>
            <a:ext cx="2286000" cy="548640"/>
          </a:xfrm>
          <a:prstGeom prst="rect">
            <a:avLst/>
          </a:prstGeom>
          <a:solidFill>
            <a:srgbClr val="161B27"/>
          </a:solidFill>
          <a:ln w="1016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0" y="46177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4D399"/>
                </a:solidFill>
              </a:rPr>
              <a:t>6 Core Features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52559" y="4572000"/>
            <a:ext cx="2286000" cy="548640"/>
          </a:xfrm>
          <a:prstGeom prst="rect">
            <a:avLst/>
          </a:prstGeom>
          <a:solidFill>
            <a:srgbClr val="161B27"/>
          </a:solidFill>
          <a:ln w="1016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3999" y="46177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BBF24"/>
                </a:solidFill>
              </a:rPr>
              <a:t>1-Command Deploy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5943600"/>
            <a:ext cx="11686032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6035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github.com/Ankitraj2000/ai-interview-proctor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1383</Words>
  <Application>Microsoft Office PowerPoint</Application>
  <PresentationFormat>Custom</PresentationFormat>
  <Paragraphs>252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Ankit raj</cp:lastModifiedBy>
  <cp:revision>1</cp:revision>
  <dcterms:created xsi:type="dcterms:W3CDTF">2013-01-27T09:14:16Z</dcterms:created>
  <dcterms:modified xsi:type="dcterms:W3CDTF">2026-07-21T08:50:10Z</dcterms:modified>
  <cp:category/>
</cp:coreProperties>
</file>